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5" r:id="rId9"/>
    <p:sldId id="267" r:id="rId10"/>
    <p:sldId id="266" r:id="rId11"/>
    <p:sldId id="268" r:id="rId12"/>
    <p:sldId id="269" r:id="rId13"/>
    <p:sldId id="270" r:id="rId14"/>
    <p:sldId id="271" r:id="rId15"/>
    <p:sldId id="273" r:id="rId16"/>
    <p:sldId id="274" r:id="rId1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FFED3B1-38D0-42EA-817E-FD481DED73DC}" type="datetimeFigureOut">
              <a:rPr lang="tr-TR" smtClean="0"/>
              <a:t>7.08.2026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9354333-F1A2-4020-A883-A5BB99E90D9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65876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ED3B1-38D0-42EA-817E-FD481DED73DC}" type="datetimeFigureOut">
              <a:rPr lang="tr-TR" smtClean="0"/>
              <a:t>7.08.2026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E9354333-F1A2-4020-A883-A5BB99E90D9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422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FFED3B1-38D0-42EA-817E-FD481DED73DC}" type="datetimeFigureOut">
              <a:rPr lang="tr-TR" smtClean="0"/>
              <a:t>7.08.2026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9354333-F1A2-4020-A883-A5BB99E90D9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7124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ED3B1-38D0-42EA-817E-FD481DED73DC}" type="datetimeFigureOut">
              <a:rPr lang="tr-TR" smtClean="0"/>
              <a:t>7.08.2026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4333-F1A2-4020-A883-A5BB99E90D9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2794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ED3B1-38D0-42EA-817E-FD481DED73DC}" type="datetimeFigureOut">
              <a:rPr lang="tr-TR" smtClean="0"/>
              <a:t>7.08.2026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4333-F1A2-4020-A883-A5BB99E90D9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56312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ED3B1-38D0-42EA-817E-FD481DED73DC}" type="datetimeFigureOut">
              <a:rPr lang="tr-TR" smtClean="0"/>
              <a:t>7.08.2026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4333-F1A2-4020-A883-A5BB99E90D9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52762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ED3B1-38D0-42EA-817E-FD481DED73DC}" type="datetimeFigureOut">
              <a:rPr lang="tr-TR" smtClean="0"/>
              <a:t>7.08.2026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4333-F1A2-4020-A883-A5BB99E90D9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29055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FFED3B1-38D0-42EA-817E-FD481DED73DC}" type="datetimeFigureOut">
              <a:rPr lang="tr-TR" smtClean="0"/>
              <a:t>7.08.2026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9354333-F1A2-4020-A883-A5BB99E90D9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62114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ED3B1-38D0-42EA-817E-FD481DED73DC}" type="datetimeFigureOut">
              <a:rPr lang="tr-TR" smtClean="0"/>
              <a:t>7.08.2026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4333-F1A2-4020-A883-A5BB99E90D9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96993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ED3B1-38D0-42EA-817E-FD481DED73DC}" type="datetimeFigureOut">
              <a:rPr lang="tr-TR" smtClean="0"/>
              <a:t>7.08.2026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4333-F1A2-4020-A883-A5BB99E90D9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92538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FFED3B1-38D0-42EA-817E-FD481DED73DC}" type="datetimeFigureOut">
              <a:rPr lang="tr-TR" smtClean="0"/>
              <a:t>7.08.2026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9354333-F1A2-4020-A883-A5BB99E90D9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78659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AFFED3B1-38D0-42EA-817E-FD481DED73DC}" type="datetimeFigureOut">
              <a:rPr lang="tr-TR" smtClean="0"/>
              <a:t>7.08.2026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E9354333-F1A2-4020-A883-A5BB99E90D92}" type="slidenum">
              <a:rPr lang="tr-TR" smtClean="0"/>
              <a:t>‹#›</a:t>
            </a:fld>
            <a:endParaRPr lang="tr-TR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7739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smtClean="0"/>
              <a:t>C# Değişken tanımlama ve veri tipleri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cap="none" dirty="0" smtClean="0"/>
              <a:t>ENGİN ARSLAN 																																						arslanengin3175@gmail.com</a:t>
            </a:r>
            <a:endParaRPr lang="tr-TR" cap="none" dirty="0"/>
          </a:p>
        </p:txBody>
      </p:sp>
      <p:sp>
        <p:nvSpPr>
          <p:cNvPr id="4" name="Dikdörtgen 3"/>
          <p:cNvSpPr/>
          <p:nvPr/>
        </p:nvSpPr>
        <p:spPr>
          <a:xfrm>
            <a:off x="5663682" y="5859624"/>
            <a:ext cx="6083559" cy="58782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bg1"/>
                </a:solidFill>
              </a:rPr>
              <a:t>▶𝚈𝚘𝚞𝚝𝚞𝚋𝚎 RAM Kafe	   📩 arslanengin3175@gmail.com</a:t>
            </a:r>
          </a:p>
        </p:txBody>
      </p:sp>
    </p:spTree>
    <p:extLst>
      <p:ext uri="{BB962C8B-B14F-4D97-AF65-F5344CB8AC3E}">
        <p14:creationId xmlns:p14="http://schemas.microsoft.com/office/powerpoint/2010/main" val="3973738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Ders kapsamında öğreneceklerimiz</a:t>
            </a:r>
            <a:endParaRPr lang="tr-TR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81192" y="2101264"/>
            <a:ext cx="5057795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Değişken nedir?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tr-TR" altLang="tr-TR" sz="3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Neden değişken kullanılır?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tr-TR" altLang="tr-TR" sz="3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Değişken nasıl tanımlanır?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Temel veri tipleri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tr-TR" altLang="tr-TR" sz="3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Örnek uygulamalar </a:t>
            </a:r>
          </a:p>
        </p:txBody>
      </p:sp>
    </p:spTree>
    <p:extLst>
      <p:ext uri="{BB962C8B-B14F-4D97-AF65-F5344CB8AC3E}">
        <p14:creationId xmlns:p14="http://schemas.microsoft.com/office/powerpoint/2010/main" val="3362042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Değişken Nedir?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/>
              <a:t>Bir program çalışırken verileri </a:t>
            </a:r>
            <a:r>
              <a:rPr lang="tr-TR" dirty="0" smtClean="0"/>
              <a:t>bellekte saklayıp kullandığımız </a:t>
            </a:r>
            <a:r>
              <a:rPr lang="tr-TR" dirty="0"/>
              <a:t>yapılara </a:t>
            </a:r>
            <a:r>
              <a:rPr lang="tr-TR" b="1" dirty="0"/>
              <a:t>değişken</a:t>
            </a:r>
            <a:r>
              <a:rPr lang="tr-TR" dirty="0"/>
              <a:t> denir</a:t>
            </a:r>
            <a:r>
              <a:rPr lang="tr-TR" dirty="0" smtClean="0"/>
              <a:t>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 smtClean="0"/>
              <a:t>Verileri geçici olarak bellekte saklayabileceğimiz gibi kalıcı olarak SQL Server veya </a:t>
            </a:r>
            <a:r>
              <a:rPr lang="tr-TR" dirty="0" err="1" smtClean="0"/>
              <a:t>MySQL</a:t>
            </a:r>
            <a:r>
              <a:rPr lang="tr-TR" dirty="0" smtClean="0"/>
              <a:t> gibi veri tabanlarında da saklayabiliriz.</a:t>
            </a:r>
            <a:endParaRPr lang="tr-TR" dirty="0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tr-TR" dirty="0"/>
              <a:t>Gerçek Hayattan Örnek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36893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dirty="0"/>
              <a:t>Bir kutunun üzerine etiket yapıştırdığınızı düşünün</a:t>
            </a:r>
            <a:r>
              <a:rPr lang="tr-TR" dirty="0" smtClean="0"/>
              <a:t>.</a:t>
            </a:r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b="1" dirty="0" smtClean="0"/>
              <a:t>	Kutunun (Değişkenin) Adı </a:t>
            </a:r>
            <a:r>
              <a:rPr lang="tr-TR" dirty="0" smtClean="0"/>
              <a:t> </a:t>
            </a:r>
            <a:r>
              <a:rPr lang="tr-TR" dirty="0"/>
              <a:t>→ </a:t>
            </a:r>
            <a:r>
              <a:rPr lang="tr-TR" dirty="0" err="1" smtClean="0"/>
              <a:t>myInt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	</a:t>
            </a:r>
            <a:r>
              <a:rPr lang="tr-TR" b="1" dirty="0" smtClean="0"/>
              <a:t>Kutunun </a:t>
            </a:r>
            <a:r>
              <a:rPr lang="tr-TR" b="1" dirty="0"/>
              <a:t>(Değişkenin)</a:t>
            </a:r>
            <a:r>
              <a:rPr lang="tr-TR" b="1" dirty="0" smtClean="0"/>
              <a:t> Değeri</a:t>
            </a:r>
            <a:r>
              <a:rPr lang="tr-TR" dirty="0" smtClean="0"/>
              <a:t> </a:t>
            </a:r>
            <a:r>
              <a:rPr lang="tr-TR" dirty="0"/>
              <a:t>→ </a:t>
            </a:r>
            <a:r>
              <a:rPr lang="tr-TR" dirty="0" smtClean="0"/>
              <a:t>628</a:t>
            </a:r>
            <a:endParaRPr lang="tr-TR" dirty="0"/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0574" y="3232735"/>
            <a:ext cx="1501270" cy="20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353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Neden Değişken Kullanılır?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87219" y="2054018"/>
            <a:ext cx="5087075" cy="536005"/>
          </a:xfrm>
        </p:spPr>
        <p:txBody>
          <a:bodyPr/>
          <a:lstStyle/>
          <a:p>
            <a:r>
              <a:rPr lang="tr-TR" dirty="0"/>
              <a:t>Değişken Kullanmanın Avantajları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/>
              <a:t>✔ </a:t>
            </a:r>
            <a:r>
              <a:rPr lang="tr-TR" dirty="0" smtClean="0"/>
              <a:t>Verilerimizi saklamamızı sağlar.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✔ Aynı veriyi tekrar tekrar kullanabiliriz</a:t>
            </a:r>
            <a:r>
              <a:rPr lang="tr-TR" dirty="0" smtClean="0"/>
              <a:t>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✔ Programın okunabilirliğini artırır</a:t>
            </a:r>
            <a:r>
              <a:rPr lang="tr-TR" dirty="0" smtClean="0"/>
              <a:t>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✔ Değerler gerektiğinde değiştirilebilir.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523736" y="1925242"/>
            <a:ext cx="5087073" cy="553373"/>
          </a:xfrm>
        </p:spPr>
        <p:txBody>
          <a:bodyPr/>
          <a:lstStyle/>
          <a:p>
            <a:r>
              <a:rPr lang="tr-TR" dirty="0" smtClean="0"/>
              <a:t>Örnek</a:t>
            </a:r>
            <a:endParaRPr lang="tr-TR" dirty="0"/>
          </a:p>
        </p:txBody>
      </p:sp>
      <p:pic>
        <p:nvPicPr>
          <p:cNvPr id="7" name="İçerik Yer Tutucusu 6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926785" y="2590023"/>
            <a:ext cx="3863675" cy="1356478"/>
          </a:xfrm>
          <a:prstGeom prst="rect">
            <a:avLst/>
          </a:prstGeom>
        </p:spPr>
      </p:pic>
      <p:sp>
        <p:nvSpPr>
          <p:cNvPr id="8" name="Metin Yer Tutucusu 4"/>
          <p:cNvSpPr txBox="1">
            <a:spLocks/>
          </p:cNvSpPr>
          <p:nvPr/>
        </p:nvSpPr>
        <p:spPr>
          <a:xfrm>
            <a:off x="6523736" y="4186361"/>
            <a:ext cx="5087073" cy="5533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smtClean="0"/>
              <a:t>Çıktı</a:t>
            </a:r>
            <a:endParaRPr lang="tr-TR" dirty="0"/>
          </a:p>
        </p:txBody>
      </p:sp>
      <p:pic>
        <p:nvPicPr>
          <p:cNvPr id="9" name="Resi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785" y="4970348"/>
            <a:ext cx="3869169" cy="1038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058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Değişken Tanımlama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smtClean="0"/>
              <a:t>Genel Yazım</a:t>
            </a:r>
            <a:endParaRPr lang="tr-TR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 err="1"/>
              <a:t>VeriTipi</a:t>
            </a:r>
            <a:r>
              <a:rPr lang="tr-TR" dirty="0"/>
              <a:t> </a:t>
            </a:r>
            <a:r>
              <a:rPr lang="tr-TR" dirty="0" err="1"/>
              <a:t>DegiskenAdi</a:t>
            </a:r>
            <a:r>
              <a:rPr lang="tr-TR" dirty="0"/>
              <a:t> = </a:t>
            </a:r>
            <a:r>
              <a:rPr lang="tr-TR" dirty="0" err="1"/>
              <a:t>Deger</a:t>
            </a:r>
            <a:r>
              <a:rPr lang="tr-TR" dirty="0" smtClean="0"/>
              <a:t>;</a:t>
            </a:r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endParaRPr lang="tr-TR" dirty="0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tr-TR" dirty="0" smtClean="0"/>
              <a:t>Örnek</a:t>
            </a:r>
            <a:endParaRPr lang="tr-TR" dirty="0"/>
          </a:p>
        </p:txBody>
      </p:sp>
      <p:pic>
        <p:nvPicPr>
          <p:cNvPr id="7" name="İçerik Yer Tutucusu 6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7171817" y="2926052"/>
            <a:ext cx="3724071" cy="2140470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3" y="3604399"/>
            <a:ext cx="4854361" cy="218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139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tr-TR" sz="6000" dirty="0"/>
          </a:p>
          <a:p>
            <a:pPr marL="0" indent="0" algn="ctr">
              <a:buNone/>
            </a:pPr>
            <a:r>
              <a:rPr lang="tr-TR" sz="6000" dirty="0" smtClean="0"/>
              <a:t>VERİ TİPLERİ</a:t>
            </a:r>
            <a:endParaRPr lang="tr-TR" sz="600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76" y="4806000"/>
            <a:ext cx="11876888" cy="185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753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cap="none" dirty="0" err="1" smtClean="0"/>
              <a:t>int</a:t>
            </a:r>
            <a:r>
              <a:rPr lang="tr-TR" dirty="0" smtClean="0"/>
              <a:t>  (</a:t>
            </a:r>
            <a:r>
              <a:rPr lang="tr-TR" cap="none" dirty="0" smtClean="0"/>
              <a:t>Tam Sayılar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smtClean="0"/>
              <a:t>ÖZELLİKLERİ</a:t>
            </a:r>
            <a:endParaRPr lang="tr-TR" dirty="0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460471" y="1974205"/>
            <a:ext cx="5087073" cy="553373"/>
          </a:xfrm>
        </p:spPr>
        <p:txBody>
          <a:bodyPr/>
          <a:lstStyle/>
          <a:p>
            <a:r>
              <a:rPr lang="tr-TR" dirty="0" smtClean="0"/>
              <a:t>KOD ÖRNEĞİ</a:t>
            </a:r>
            <a:endParaRPr lang="tr-TR" dirty="0"/>
          </a:p>
        </p:txBody>
      </p:sp>
      <p:pic>
        <p:nvPicPr>
          <p:cNvPr id="14" name="İçerik Yer Tutucusu 13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394609" y="2674360"/>
            <a:ext cx="3571459" cy="1741797"/>
          </a:xfrm>
          <a:prstGeom prst="rect">
            <a:avLst/>
          </a:prstGeom>
        </p:spPr>
      </p:pic>
      <p:sp>
        <p:nvSpPr>
          <p:cNvPr id="13" name="Rectangle 7"/>
          <p:cNvSpPr>
            <a:spLocks noGrp="1" noChangeArrowheads="1"/>
          </p:cNvSpPr>
          <p:nvPr>
            <p:ph sz="half" idx="2"/>
          </p:nvPr>
        </p:nvSpPr>
        <p:spPr bwMode="auto">
          <a:xfrm>
            <a:off x="581193" y="2926052"/>
            <a:ext cx="394216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Pozitif ve negatif değer alabilir.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>
                <a:solidFill>
                  <a:schemeClr val="tx1"/>
                </a:solidFill>
                <a:latin typeface="Arial" panose="020B0604020202020204" pitchFamily="34" charset="0"/>
              </a:rPr>
              <a:t>» 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 sık kullanılan sayısal veri tipidir.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>
                <a:solidFill>
                  <a:schemeClr val="tx1"/>
                </a:solidFill>
                <a:latin typeface="Arial" panose="020B0604020202020204" pitchFamily="34" charset="0"/>
              </a:rPr>
              <a:t>» </a:t>
            </a:r>
            <a:r>
              <a:rPr lang="tr-TR" altLang="tr-TR" dirty="0" err="1">
                <a:solidFill>
                  <a:schemeClr val="tx1"/>
                </a:solidFill>
                <a:latin typeface="Arial" panose="020B0604020202020204" pitchFamily="34" charset="0"/>
              </a:rPr>
              <a:t>Ondalıklı</a:t>
            </a:r>
            <a:r>
              <a:rPr lang="tr-TR" altLang="tr-TR" dirty="0">
                <a:solidFill>
                  <a:schemeClr val="tx1"/>
                </a:solidFill>
                <a:latin typeface="Arial" panose="020B0604020202020204" pitchFamily="34" charset="0"/>
              </a:rPr>
              <a:t> sayı tutamaz. 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5" name="Metin Yer Tutucusu 4"/>
          <p:cNvSpPr txBox="1">
            <a:spLocks/>
          </p:cNvSpPr>
          <p:nvPr/>
        </p:nvSpPr>
        <p:spPr>
          <a:xfrm>
            <a:off x="6460470" y="4562940"/>
            <a:ext cx="5087073" cy="5533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smtClean="0"/>
              <a:t>ÇIKTI</a:t>
            </a:r>
            <a:endParaRPr lang="tr-TR" dirty="0"/>
          </a:p>
        </p:txBody>
      </p:sp>
      <p:pic>
        <p:nvPicPr>
          <p:cNvPr id="16" name="Resim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608" y="5263096"/>
            <a:ext cx="3783147" cy="118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899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cap="none" dirty="0" err="1" smtClean="0"/>
              <a:t>double</a:t>
            </a:r>
            <a:r>
              <a:rPr lang="tr-TR" dirty="0" smtClean="0"/>
              <a:t>  (</a:t>
            </a:r>
            <a:r>
              <a:rPr lang="tr-TR" cap="none" dirty="0" err="1" smtClean="0"/>
              <a:t>Ondalıklı</a:t>
            </a:r>
            <a:r>
              <a:rPr lang="tr-TR" cap="none" dirty="0" smtClean="0"/>
              <a:t> Sayılar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942580" y="2138355"/>
            <a:ext cx="5087075" cy="536005"/>
          </a:xfrm>
        </p:spPr>
        <p:txBody>
          <a:bodyPr/>
          <a:lstStyle/>
          <a:p>
            <a:r>
              <a:rPr lang="tr-TR" dirty="0" smtClean="0"/>
              <a:t>ÖZELLİKLERİ</a:t>
            </a:r>
            <a:endParaRPr lang="tr-TR" dirty="0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460471" y="1974205"/>
            <a:ext cx="5087073" cy="553373"/>
          </a:xfrm>
        </p:spPr>
        <p:txBody>
          <a:bodyPr/>
          <a:lstStyle/>
          <a:p>
            <a:r>
              <a:rPr lang="tr-TR" dirty="0" smtClean="0"/>
              <a:t>KOD ÖRNEĞİ</a:t>
            </a:r>
            <a:endParaRPr lang="tr-TR" dirty="0"/>
          </a:p>
        </p:txBody>
      </p:sp>
      <p:sp>
        <p:nvSpPr>
          <p:cNvPr id="13" name="Rectangle 7"/>
          <p:cNvSpPr>
            <a:spLocks noGrp="1" noChangeArrowheads="1"/>
          </p:cNvSpPr>
          <p:nvPr>
            <p:ph sz="half" idx="2"/>
          </p:nvPr>
        </p:nvSpPr>
        <p:spPr bwMode="auto">
          <a:xfrm>
            <a:off x="581193" y="2786897"/>
            <a:ext cx="532716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Virgüllü (</a:t>
            </a:r>
            <a:r>
              <a:rPr lang="tr-TR" altLang="tr-TR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ondalıklı</a:t>
            </a: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) sayıları saklar.</a:t>
            </a: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>
                <a:solidFill>
                  <a:schemeClr val="tx1"/>
                </a:solidFill>
                <a:latin typeface="Arial" panose="020B0604020202020204" pitchFamily="34" charset="0"/>
              </a:rPr>
              <a:t>» 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Matematiksel işlemlerde yaygın olarak kullanılır.</a:t>
            </a:r>
          </a:p>
        </p:txBody>
      </p:sp>
      <p:sp>
        <p:nvSpPr>
          <p:cNvPr id="15" name="Metin Yer Tutucusu 4"/>
          <p:cNvSpPr txBox="1">
            <a:spLocks/>
          </p:cNvSpPr>
          <p:nvPr/>
        </p:nvSpPr>
        <p:spPr>
          <a:xfrm>
            <a:off x="6460471" y="4721332"/>
            <a:ext cx="5087073" cy="5533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smtClean="0"/>
              <a:t>ÇIKTI</a:t>
            </a:r>
            <a:endParaRPr lang="tr-TR" dirty="0"/>
          </a:p>
        </p:txBody>
      </p:sp>
      <p:pic>
        <p:nvPicPr>
          <p:cNvPr id="7" name="İçerik Yer Tutucusu 6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339173" y="2527579"/>
            <a:ext cx="3663243" cy="2065645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173" y="5402813"/>
            <a:ext cx="3690531" cy="1178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004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cap="none" dirty="0" err="1" smtClean="0"/>
              <a:t>float</a:t>
            </a:r>
            <a:r>
              <a:rPr lang="tr-TR" dirty="0" smtClean="0"/>
              <a:t>  (</a:t>
            </a:r>
            <a:r>
              <a:rPr lang="tr-TR" cap="none" dirty="0" err="1" smtClean="0"/>
              <a:t>Double’dan</a:t>
            </a:r>
            <a:r>
              <a:rPr lang="tr-TR" cap="none" dirty="0" smtClean="0"/>
              <a:t> Daha Az Hassas </a:t>
            </a:r>
            <a:r>
              <a:rPr lang="tr-TR" cap="none" dirty="0" err="1" smtClean="0"/>
              <a:t>Ondalıklı</a:t>
            </a:r>
            <a:r>
              <a:rPr lang="tr-TR" cap="none" dirty="0" smtClean="0"/>
              <a:t> Sayılar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942580" y="2138355"/>
            <a:ext cx="5087075" cy="536005"/>
          </a:xfrm>
        </p:spPr>
        <p:txBody>
          <a:bodyPr/>
          <a:lstStyle/>
          <a:p>
            <a:r>
              <a:rPr lang="tr-TR" dirty="0" smtClean="0"/>
              <a:t>ÖZELLİKLERİ</a:t>
            </a:r>
            <a:endParaRPr lang="tr-TR" dirty="0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460471" y="1974205"/>
            <a:ext cx="5087073" cy="553373"/>
          </a:xfrm>
        </p:spPr>
        <p:txBody>
          <a:bodyPr/>
          <a:lstStyle/>
          <a:p>
            <a:r>
              <a:rPr lang="tr-TR" dirty="0" smtClean="0"/>
              <a:t>KOD ÖRNEĞİ</a:t>
            </a:r>
            <a:endParaRPr lang="tr-TR" dirty="0"/>
          </a:p>
        </p:txBody>
      </p:sp>
      <p:sp>
        <p:nvSpPr>
          <p:cNvPr id="13" name="Rectangle 7"/>
          <p:cNvSpPr>
            <a:spLocks noGrp="1" noChangeArrowheads="1"/>
          </p:cNvSpPr>
          <p:nvPr>
            <p:ph sz="half" idx="2"/>
          </p:nvPr>
        </p:nvSpPr>
        <p:spPr bwMode="auto">
          <a:xfrm>
            <a:off x="581193" y="3063896"/>
            <a:ext cx="30444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</a:t>
            </a:r>
            <a:r>
              <a:rPr kumimoji="0" lang="tr-TR" altLang="tr-T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veya </a:t>
            </a:r>
            <a:r>
              <a:rPr kumimoji="0" lang="tr-TR" altLang="tr-T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eki ile tanımlanır.</a:t>
            </a:r>
          </a:p>
        </p:txBody>
      </p:sp>
      <p:sp>
        <p:nvSpPr>
          <p:cNvPr id="15" name="Metin Yer Tutucusu 4"/>
          <p:cNvSpPr txBox="1">
            <a:spLocks/>
          </p:cNvSpPr>
          <p:nvPr/>
        </p:nvSpPr>
        <p:spPr>
          <a:xfrm>
            <a:off x="6460471" y="4721332"/>
            <a:ext cx="5087073" cy="5533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smtClean="0"/>
              <a:t>ÇIKTI</a:t>
            </a:r>
            <a:endParaRPr lang="tr-TR" dirty="0"/>
          </a:p>
        </p:txBody>
      </p:sp>
      <p:sp>
        <p:nvSpPr>
          <p:cNvPr id="14" name="Metin Yer Tutucusu 2"/>
          <p:cNvSpPr txBox="1">
            <a:spLocks/>
          </p:cNvSpPr>
          <p:nvPr/>
        </p:nvSpPr>
        <p:spPr>
          <a:xfrm>
            <a:off x="942579" y="4171518"/>
            <a:ext cx="5087075" cy="5360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smtClean="0"/>
              <a:t>KULLANIM ALANLARI</a:t>
            </a:r>
            <a:endParaRPr lang="tr-TR" dirty="0"/>
          </a:p>
        </p:txBody>
      </p:sp>
      <p:sp>
        <p:nvSpPr>
          <p:cNvPr id="16" name="Rectangle 7"/>
          <p:cNvSpPr txBox="1">
            <a:spLocks noChangeArrowheads="1"/>
          </p:cNvSpPr>
          <p:nvPr/>
        </p:nvSpPr>
        <p:spPr bwMode="auto">
          <a:xfrm>
            <a:off x="581193" y="4941957"/>
            <a:ext cx="245458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Grafik Uygulamaları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tr-TR" altLang="tr-TR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Oyun Geliştirme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endParaRPr lang="tr-TR" altLang="tr-TR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</a:t>
            </a:r>
            <a:r>
              <a:rPr lang="tr-TR" altLang="tr-TR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Sensör</a:t>
            </a: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 Verileri</a:t>
            </a:r>
          </a:p>
        </p:txBody>
      </p:sp>
      <p:pic>
        <p:nvPicPr>
          <p:cNvPr id="7" name="İçerik Yer Tutucusu 6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460471" y="2639417"/>
            <a:ext cx="4427604" cy="1889924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471" y="5440127"/>
            <a:ext cx="3631436" cy="979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138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cap="none" dirty="0" err="1" smtClean="0"/>
              <a:t>decimal</a:t>
            </a:r>
            <a:r>
              <a:rPr lang="tr-TR" dirty="0"/>
              <a:t>  </a:t>
            </a:r>
            <a:r>
              <a:rPr lang="tr-TR" dirty="0" smtClean="0"/>
              <a:t>(</a:t>
            </a:r>
            <a:r>
              <a:rPr lang="tr-TR" cap="none" dirty="0" smtClean="0"/>
              <a:t>Yüksek Hassasiyet Gerektiren </a:t>
            </a:r>
            <a:r>
              <a:rPr lang="tr-TR" cap="none" dirty="0" err="1" smtClean="0"/>
              <a:t>Ondalıklı</a:t>
            </a:r>
            <a:r>
              <a:rPr lang="tr-TR" cap="none" dirty="0" smtClean="0"/>
              <a:t> Sayılar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942580" y="2138355"/>
            <a:ext cx="5087075" cy="536005"/>
          </a:xfrm>
        </p:spPr>
        <p:txBody>
          <a:bodyPr/>
          <a:lstStyle/>
          <a:p>
            <a:r>
              <a:rPr lang="tr-TR" dirty="0" smtClean="0"/>
              <a:t>ÖZELLİKLERİ</a:t>
            </a:r>
            <a:endParaRPr lang="tr-TR" dirty="0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460471" y="1974205"/>
            <a:ext cx="5087073" cy="553373"/>
          </a:xfrm>
        </p:spPr>
        <p:txBody>
          <a:bodyPr/>
          <a:lstStyle/>
          <a:p>
            <a:r>
              <a:rPr lang="tr-TR" dirty="0" smtClean="0"/>
              <a:t>KOD ÖRNEĞİ</a:t>
            </a:r>
            <a:endParaRPr lang="tr-TR" dirty="0"/>
          </a:p>
        </p:txBody>
      </p:sp>
      <p:sp>
        <p:nvSpPr>
          <p:cNvPr id="13" name="Rectangle 7"/>
          <p:cNvSpPr>
            <a:spLocks noGrp="1" noChangeArrowheads="1"/>
          </p:cNvSpPr>
          <p:nvPr>
            <p:ph sz="half" idx="2"/>
          </p:nvPr>
        </p:nvSpPr>
        <p:spPr bwMode="auto">
          <a:xfrm>
            <a:off x="581193" y="2786897"/>
            <a:ext cx="418582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Finansal hesaplamalar için uygundur.</a:t>
            </a: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>
                <a:solidFill>
                  <a:schemeClr val="tx1"/>
                </a:solidFill>
                <a:latin typeface="Arial" panose="020B0604020202020204" pitchFamily="34" charset="0"/>
              </a:rPr>
              <a:t>» </a:t>
            </a:r>
            <a:r>
              <a:rPr kumimoji="0" lang="tr-TR" altLang="tr-T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veya </a:t>
            </a:r>
            <a:r>
              <a:rPr kumimoji="0" lang="tr-TR" altLang="tr-T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eki ile tanımlanır.</a:t>
            </a:r>
          </a:p>
        </p:txBody>
      </p:sp>
      <p:sp>
        <p:nvSpPr>
          <p:cNvPr id="15" name="Metin Yer Tutucusu 4"/>
          <p:cNvSpPr txBox="1">
            <a:spLocks/>
          </p:cNvSpPr>
          <p:nvPr/>
        </p:nvSpPr>
        <p:spPr>
          <a:xfrm>
            <a:off x="6460471" y="4721332"/>
            <a:ext cx="5087073" cy="5533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smtClean="0"/>
              <a:t>ÇIKTI</a:t>
            </a:r>
            <a:endParaRPr lang="tr-TR" dirty="0"/>
          </a:p>
        </p:txBody>
      </p:sp>
      <p:pic>
        <p:nvPicPr>
          <p:cNvPr id="9" name="İçerik Yer Tutucusu 8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339173" y="2641045"/>
            <a:ext cx="4046571" cy="1798476"/>
          </a:xfrm>
          <a:prstGeom prst="rect">
            <a:avLst/>
          </a:prstGeom>
        </p:spPr>
      </p:pic>
      <p:pic>
        <p:nvPicPr>
          <p:cNvPr id="10" name="Resim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173" y="5466696"/>
            <a:ext cx="3915246" cy="999418"/>
          </a:xfrm>
          <a:prstGeom prst="rect">
            <a:avLst/>
          </a:prstGeom>
        </p:spPr>
      </p:pic>
      <p:sp>
        <p:nvSpPr>
          <p:cNvPr id="14" name="Metin Yer Tutucusu 2"/>
          <p:cNvSpPr txBox="1">
            <a:spLocks/>
          </p:cNvSpPr>
          <p:nvPr/>
        </p:nvSpPr>
        <p:spPr>
          <a:xfrm>
            <a:off x="942579" y="4171518"/>
            <a:ext cx="5087075" cy="5360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smtClean="0"/>
              <a:t>KULLANIM ALANLARI</a:t>
            </a:r>
            <a:endParaRPr lang="tr-TR" dirty="0"/>
          </a:p>
        </p:txBody>
      </p:sp>
      <p:sp>
        <p:nvSpPr>
          <p:cNvPr id="16" name="Rectangle 7"/>
          <p:cNvSpPr txBox="1">
            <a:spLocks noChangeArrowheads="1"/>
          </p:cNvSpPr>
          <p:nvPr/>
        </p:nvSpPr>
        <p:spPr bwMode="auto">
          <a:xfrm>
            <a:off x="581193" y="4941957"/>
            <a:ext cx="245458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Para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tr-TR" altLang="tr-TR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Maaş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endParaRPr lang="tr-TR" altLang="tr-TR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Vergi Hesaplamaları</a:t>
            </a:r>
          </a:p>
        </p:txBody>
      </p:sp>
    </p:spTree>
    <p:extLst>
      <p:ext uri="{BB962C8B-B14F-4D97-AF65-F5344CB8AC3E}">
        <p14:creationId xmlns:p14="http://schemas.microsoft.com/office/powerpoint/2010/main" val="1620132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cap="none" dirty="0" err="1" smtClean="0"/>
              <a:t>string</a:t>
            </a:r>
            <a:r>
              <a:rPr lang="tr-TR" dirty="0" smtClean="0"/>
              <a:t>  (</a:t>
            </a:r>
            <a:r>
              <a:rPr lang="tr-TR" cap="none" dirty="0" smtClean="0"/>
              <a:t>2 ve 2’den Fazla Karakter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942580" y="2138355"/>
            <a:ext cx="5087075" cy="536005"/>
          </a:xfrm>
        </p:spPr>
        <p:txBody>
          <a:bodyPr/>
          <a:lstStyle/>
          <a:p>
            <a:r>
              <a:rPr lang="tr-TR" dirty="0" smtClean="0"/>
              <a:t>ÖZELLİKLERİ</a:t>
            </a:r>
            <a:endParaRPr lang="tr-TR" dirty="0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460471" y="1974205"/>
            <a:ext cx="5087073" cy="553373"/>
          </a:xfrm>
        </p:spPr>
        <p:txBody>
          <a:bodyPr/>
          <a:lstStyle/>
          <a:p>
            <a:r>
              <a:rPr lang="tr-TR" dirty="0" smtClean="0"/>
              <a:t>KOD ÖRNEĞİ</a:t>
            </a:r>
            <a:endParaRPr lang="tr-TR" dirty="0"/>
          </a:p>
        </p:txBody>
      </p:sp>
      <p:sp>
        <p:nvSpPr>
          <p:cNvPr id="13" name="Rectangle 7"/>
          <p:cNvSpPr>
            <a:spLocks noGrp="1" noChangeArrowheads="1"/>
          </p:cNvSpPr>
          <p:nvPr>
            <p:ph sz="half" idx="2"/>
          </p:nvPr>
        </p:nvSpPr>
        <p:spPr bwMode="auto">
          <a:xfrm>
            <a:off x="581193" y="2786897"/>
            <a:ext cx="374980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Çift tırnak (</a:t>
            </a:r>
            <a:r>
              <a:rPr lang="tr-TR" b="1" dirty="0" smtClean="0"/>
              <a:t>"</a:t>
            </a:r>
            <a:r>
              <a:rPr lang="tr-TR" altLang="tr-TR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tr-TR" b="1" dirty="0" smtClean="0"/>
              <a:t>"</a:t>
            </a: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) ile tanımlanır.</a:t>
            </a: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>
                <a:solidFill>
                  <a:schemeClr val="tx1"/>
                </a:solidFill>
                <a:latin typeface="Arial" panose="020B0604020202020204" pitchFamily="34" charset="0"/>
              </a:rPr>
              <a:t>» </a:t>
            </a: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Birden fazla karakter saklayabilir.</a:t>
            </a: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Metin Yer Tutucusu 4"/>
          <p:cNvSpPr txBox="1">
            <a:spLocks/>
          </p:cNvSpPr>
          <p:nvPr/>
        </p:nvSpPr>
        <p:spPr>
          <a:xfrm>
            <a:off x="6460471" y="4721332"/>
            <a:ext cx="5087073" cy="5533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smtClean="0"/>
              <a:t>ÇIKTI</a:t>
            </a:r>
            <a:endParaRPr lang="tr-TR" dirty="0"/>
          </a:p>
        </p:txBody>
      </p:sp>
      <p:sp>
        <p:nvSpPr>
          <p:cNvPr id="14" name="Metin Yer Tutucusu 2"/>
          <p:cNvSpPr txBox="1">
            <a:spLocks/>
          </p:cNvSpPr>
          <p:nvPr/>
        </p:nvSpPr>
        <p:spPr>
          <a:xfrm>
            <a:off x="942580" y="4059551"/>
            <a:ext cx="5087075" cy="5360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smtClean="0"/>
              <a:t>KULLANIM ALANLARI</a:t>
            </a:r>
            <a:endParaRPr lang="tr-TR" dirty="0"/>
          </a:p>
        </p:txBody>
      </p:sp>
      <p:sp>
        <p:nvSpPr>
          <p:cNvPr id="16" name="Rectangle 7"/>
          <p:cNvSpPr txBox="1">
            <a:spLocks noChangeArrowheads="1"/>
          </p:cNvSpPr>
          <p:nvPr/>
        </p:nvSpPr>
        <p:spPr bwMode="auto">
          <a:xfrm>
            <a:off x="581193" y="4664959"/>
            <a:ext cx="136454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Ad </a:t>
            </a:r>
            <a:r>
              <a:rPr lang="tr-TR" altLang="tr-TR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Soyad</a:t>
            </a:r>
            <a:endParaRPr lang="tr-TR" altLang="tr-TR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tr-TR" altLang="tr-TR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Şehir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endParaRPr lang="tr-TR" altLang="tr-TR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Adres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tr-TR" altLang="tr-TR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>
                <a:solidFill>
                  <a:schemeClr val="tx1"/>
                </a:solidFill>
                <a:latin typeface="Arial" panose="020B0604020202020204" pitchFamily="34" charset="0"/>
              </a:rPr>
              <a:t>» </a:t>
            </a: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E-posta</a:t>
            </a:r>
            <a:endParaRPr lang="tr-TR" altLang="tr-TR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7" name="İçerik Yer Tutucusu 6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339173" y="2616898"/>
            <a:ext cx="4160881" cy="1950889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173" y="5472735"/>
            <a:ext cx="3804312" cy="95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917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cap="none" dirty="0" err="1" smtClean="0"/>
              <a:t>char</a:t>
            </a:r>
            <a:r>
              <a:rPr lang="tr-TR" dirty="0" smtClean="0"/>
              <a:t>  (</a:t>
            </a:r>
            <a:r>
              <a:rPr lang="tr-TR" cap="none" dirty="0" smtClean="0"/>
              <a:t>Tek Karakter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942580" y="2138355"/>
            <a:ext cx="5087075" cy="536005"/>
          </a:xfrm>
        </p:spPr>
        <p:txBody>
          <a:bodyPr/>
          <a:lstStyle/>
          <a:p>
            <a:r>
              <a:rPr lang="tr-TR" dirty="0" smtClean="0"/>
              <a:t>ÖZELLİKLERİ</a:t>
            </a:r>
            <a:endParaRPr lang="tr-TR" dirty="0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460471" y="1974205"/>
            <a:ext cx="5087073" cy="553373"/>
          </a:xfrm>
        </p:spPr>
        <p:txBody>
          <a:bodyPr/>
          <a:lstStyle/>
          <a:p>
            <a:r>
              <a:rPr lang="tr-TR" dirty="0" smtClean="0"/>
              <a:t>KOD ÖRNEĞİ</a:t>
            </a:r>
            <a:endParaRPr lang="tr-TR" dirty="0"/>
          </a:p>
        </p:txBody>
      </p:sp>
      <p:sp>
        <p:nvSpPr>
          <p:cNvPr id="13" name="Rectangle 7"/>
          <p:cNvSpPr>
            <a:spLocks noGrp="1" noChangeArrowheads="1"/>
          </p:cNvSpPr>
          <p:nvPr>
            <p:ph sz="half" idx="2"/>
          </p:nvPr>
        </p:nvSpPr>
        <p:spPr bwMode="auto">
          <a:xfrm>
            <a:off x="581193" y="2786897"/>
            <a:ext cx="403193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Tek tırnak (</a:t>
            </a:r>
            <a:r>
              <a:rPr lang="tr-TR" b="1" dirty="0" smtClean="0"/>
              <a:t>‘</a:t>
            </a:r>
            <a:r>
              <a:rPr lang="tr-TR" altLang="tr-TR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tr-TR" b="1" dirty="0" smtClean="0"/>
              <a:t>‘</a:t>
            </a: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) ile tanımlanır.</a:t>
            </a: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>
                <a:solidFill>
                  <a:schemeClr val="tx1"/>
                </a:solidFill>
                <a:latin typeface="Arial" panose="020B0604020202020204" pitchFamily="34" charset="0"/>
              </a:rPr>
              <a:t>» </a:t>
            </a: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Bir harf, rakam veya sembol olabilir.</a:t>
            </a: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Metin Yer Tutucusu 4"/>
          <p:cNvSpPr txBox="1">
            <a:spLocks/>
          </p:cNvSpPr>
          <p:nvPr/>
        </p:nvSpPr>
        <p:spPr>
          <a:xfrm>
            <a:off x="6460471" y="4721332"/>
            <a:ext cx="5087073" cy="5533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smtClean="0"/>
              <a:t>ÇIKTI</a:t>
            </a:r>
            <a:endParaRPr lang="tr-TR" dirty="0"/>
          </a:p>
        </p:txBody>
      </p:sp>
      <p:sp>
        <p:nvSpPr>
          <p:cNvPr id="14" name="Metin Yer Tutucusu 2"/>
          <p:cNvSpPr txBox="1">
            <a:spLocks/>
          </p:cNvSpPr>
          <p:nvPr/>
        </p:nvSpPr>
        <p:spPr>
          <a:xfrm>
            <a:off x="942580" y="4185327"/>
            <a:ext cx="5087075" cy="5360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smtClean="0"/>
              <a:t>KULLANIM ALANLARI</a:t>
            </a:r>
            <a:endParaRPr lang="tr-TR" dirty="0"/>
          </a:p>
        </p:txBody>
      </p:sp>
      <p:sp>
        <p:nvSpPr>
          <p:cNvPr id="16" name="Rectangle 7"/>
          <p:cNvSpPr txBox="1">
            <a:spLocks noChangeArrowheads="1"/>
          </p:cNvSpPr>
          <p:nvPr/>
        </p:nvSpPr>
        <p:spPr bwMode="auto">
          <a:xfrm>
            <a:off x="581193" y="4941958"/>
            <a:ext cx="180049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Harf Notu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tr-TR" altLang="tr-TR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Cinsiyet Kodu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endParaRPr lang="tr-TR" altLang="tr-TR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Menü Seçimi</a:t>
            </a:r>
            <a:endParaRPr lang="tr-TR" altLang="tr-TR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9" name="İçerik Yer Tutucusu 8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339174" y="2527578"/>
            <a:ext cx="3804312" cy="2197761"/>
          </a:xfrm>
          <a:prstGeom prst="rect">
            <a:avLst/>
          </a:prstGeom>
        </p:spPr>
      </p:pic>
      <p:pic>
        <p:nvPicPr>
          <p:cNvPr id="10" name="Resim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174" y="5389777"/>
            <a:ext cx="3611394" cy="120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509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cap="none" dirty="0" err="1" smtClean="0"/>
              <a:t>bool</a:t>
            </a:r>
            <a:r>
              <a:rPr lang="tr-TR" dirty="0" smtClean="0"/>
              <a:t>  (</a:t>
            </a:r>
            <a:r>
              <a:rPr lang="tr-TR" cap="none" dirty="0" smtClean="0"/>
              <a:t>Doğru veya Yanlış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942580" y="2138355"/>
            <a:ext cx="5087075" cy="536005"/>
          </a:xfrm>
        </p:spPr>
        <p:txBody>
          <a:bodyPr/>
          <a:lstStyle/>
          <a:p>
            <a:r>
              <a:rPr lang="tr-TR" dirty="0" smtClean="0"/>
              <a:t>ÖZELLİKLERİ</a:t>
            </a:r>
            <a:endParaRPr lang="tr-TR" dirty="0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460471" y="1974205"/>
            <a:ext cx="5087073" cy="553373"/>
          </a:xfrm>
        </p:spPr>
        <p:txBody>
          <a:bodyPr/>
          <a:lstStyle/>
          <a:p>
            <a:r>
              <a:rPr lang="tr-TR" dirty="0" smtClean="0"/>
              <a:t>KOD ÖRNEĞİ</a:t>
            </a:r>
            <a:endParaRPr lang="tr-TR" dirty="0"/>
          </a:p>
        </p:txBody>
      </p:sp>
      <p:sp>
        <p:nvSpPr>
          <p:cNvPr id="13" name="Rectangle 7"/>
          <p:cNvSpPr>
            <a:spLocks noGrp="1" noChangeArrowheads="1"/>
          </p:cNvSpPr>
          <p:nvPr>
            <p:ph sz="half" idx="2"/>
          </p:nvPr>
        </p:nvSpPr>
        <p:spPr bwMode="auto">
          <a:xfrm>
            <a:off x="581193" y="2925397"/>
            <a:ext cx="495186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Yalnızca </a:t>
            </a:r>
            <a:r>
              <a:rPr lang="tr-TR" altLang="tr-TR" b="1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true</a:t>
            </a: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tr-TR" altLang="tr-TR" i="1" dirty="0" smtClean="0">
                <a:solidFill>
                  <a:schemeClr val="tx1"/>
                </a:solidFill>
                <a:latin typeface="Arial" panose="020B0604020202020204" pitchFamily="34" charset="0"/>
              </a:rPr>
              <a:t>(Evet)</a:t>
            </a: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 veya </a:t>
            </a:r>
            <a:r>
              <a:rPr lang="tr-TR" altLang="tr-TR" b="1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false</a:t>
            </a: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tr-TR" altLang="tr-TR" i="1" dirty="0" smtClean="0">
                <a:solidFill>
                  <a:schemeClr val="tx1"/>
                </a:solidFill>
                <a:latin typeface="Arial" panose="020B0604020202020204" pitchFamily="34" charset="0"/>
              </a:rPr>
              <a:t>(Hayır)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değerlerini alabilir.</a:t>
            </a: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Metin Yer Tutucusu 4"/>
          <p:cNvSpPr txBox="1">
            <a:spLocks/>
          </p:cNvSpPr>
          <p:nvPr/>
        </p:nvSpPr>
        <p:spPr>
          <a:xfrm>
            <a:off x="6460471" y="4721332"/>
            <a:ext cx="5087073" cy="5533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smtClean="0"/>
              <a:t>ÇIKTI</a:t>
            </a:r>
            <a:endParaRPr lang="tr-TR" dirty="0"/>
          </a:p>
        </p:txBody>
      </p:sp>
      <p:sp>
        <p:nvSpPr>
          <p:cNvPr id="14" name="Metin Yer Tutucusu 2"/>
          <p:cNvSpPr txBox="1">
            <a:spLocks/>
          </p:cNvSpPr>
          <p:nvPr/>
        </p:nvSpPr>
        <p:spPr>
          <a:xfrm>
            <a:off x="942580" y="4185327"/>
            <a:ext cx="5087075" cy="5360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smtClean="0"/>
              <a:t>KULLANIM ALANLARI</a:t>
            </a:r>
            <a:endParaRPr lang="tr-TR" dirty="0"/>
          </a:p>
        </p:txBody>
      </p:sp>
      <p:sp>
        <p:nvSpPr>
          <p:cNvPr id="16" name="Rectangle 7"/>
          <p:cNvSpPr txBox="1">
            <a:spLocks noChangeArrowheads="1"/>
          </p:cNvSpPr>
          <p:nvPr/>
        </p:nvSpPr>
        <p:spPr bwMode="auto">
          <a:xfrm>
            <a:off x="581193" y="4941958"/>
            <a:ext cx="245022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Giriş Yapıldı mı?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tr-TR" altLang="tr-TR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Kullanıcı Aktif Mi?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endParaRPr lang="tr-TR" altLang="tr-TR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Ürün Stokta Var mı?</a:t>
            </a:r>
            <a:endParaRPr lang="tr-TR" altLang="tr-TR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6" name="İçerik Yer Tutucusu 5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235944" y="2642650"/>
            <a:ext cx="5311600" cy="1882303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944" y="5471084"/>
            <a:ext cx="3769032" cy="962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847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cap="none" dirty="0" smtClean="0"/>
              <a:t>var</a:t>
            </a:r>
            <a:r>
              <a:rPr lang="tr-TR" dirty="0" smtClean="0"/>
              <a:t>  (</a:t>
            </a:r>
            <a:r>
              <a:rPr lang="tr-TR" cap="none" dirty="0" smtClean="0"/>
              <a:t>İçinde Tüm Veri Tiplerini Barındırır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942580" y="2138355"/>
            <a:ext cx="5087075" cy="536005"/>
          </a:xfrm>
        </p:spPr>
        <p:txBody>
          <a:bodyPr/>
          <a:lstStyle/>
          <a:p>
            <a:r>
              <a:rPr lang="tr-TR" dirty="0" smtClean="0"/>
              <a:t>Var anahtar kelimesi Nedir?</a:t>
            </a:r>
            <a:endParaRPr lang="tr-TR" dirty="0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460471" y="1974205"/>
            <a:ext cx="5087073" cy="553373"/>
          </a:xfrm>
        </p:spPr>
        <p:txBody>
          <a:bodyPr/>
          <a:lstStyle/>
          <a:p>
            <a:r>
              <a:rPr lang="tr-TR" dirty="0" smtClean="0"/>
              <a:t>KOD ÖRNEĞİ</a:t>
            </a:r>
            <a:endParaRPr lang="tr-TR" dirty="0"/>
          </a:p>
        </p:txBody>
      </p:sp>
      <p:sp>
        <p:nvSpPr>
          <p:cNvPr id="13" name="Rectangle 7"/>
          <p:cNvSpPr>
            <a:spLocks noGrp="1" noChangeArrowheads="1"/>
          </p:cNvSpPr>
          <p:nvPr>
            <p:ph sz="half" idx="2"/>
          </p:nvPr>
        </p:nvSpPr>
        <p:spPr bwMode="auto">
          <a:xfrm>
            <a:off x="581193" y="2925397"/>
            <a:ext cx="495186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var, değişkenin veri tipini atanan değere göre otomatik belirleyen anahtar kelimedir.</a:t>
            </a:r>
            <a:endParaRPr lang="tr-TR" altLang="tr-TR" i="1" dirty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5" name="Metin Yer Tutucusu 4"/>
          <p:cNvSpPr txBox="1">
            <a:spLocks/>
          </p:cNvSpPr>
          <p:nvPr/>
        </p:nvSpPr>
        <p:spPr>
          <a:xfrm>
            <a:off x="6460470" y="4779135"/>
            <a:ext cx="5087073" cy="5533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smtClean="0"/>
              <a:t>ÇIKTI</a:t>
            </a:r>
            <a:endParaRPr lang="tr-TR" dirty="0"/>
          </a:p>
        </p:txBody>
      </p:sp>
      <p:sp>
        <p:nvSpPr>
          <p:cNvPr id="14" name="Metin Yer Tutucusu 2"/>
          <p:cNvSpPr txBox="1">
            <a:spLocks/>
          </p:cNvSpPr>
          <p:nvPr/>
        </p:nvSpPr>
        <p:spPr>
          <a:xfrm>
            <a:off x="942580" y="4185327"/>
            <a:ext cx="5087075" cy="5360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smtClean="0"/>
              <a:t>ÖZELLİKLERİ</a:t>
            </a:r>
            <a:endParaRPr lang="tr-TR" dirty="0"/>
          </a:p>
        </p:txBody>
      </p:sp>
      <p:sp>
        <p:nvSpPr>
          <p:cNvPr id="16" name="Rectangle 7"/>
          <p:cNvSpPr txBox="1">
            <a:spLocks noChangeArrowheads="1"/>
          </p:cNvSpPr>
          <p:nvPr/>
        </p:nvSpPr>
        <p:spPr bwMode="auto">
          <a:xfrm>
            <a:off x="581193" y="4779135"/>
            <a:ext cx="490390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Derleyici veri tipini otomatik belirler.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tr-TR" altLang="tr-TR" i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>
                <a:solidFill>
                  <a:schemeClr val="tx1"/>
                </a:solidFill>
                <a:latin typeface="Arial" panose="020B0604020202020204" pitchFamily="34" charset="0"/>
              </a:rPr>
              <a:t>» </a:t>
            </a: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İlk atanan değerden sonra veri tipi değişmez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     </a:t>
            </a:r>
            <a:r>
              <a:rPr lang="tr-TR" altLang="tr-TR" sz="1600" i="1" dirty="0" smtClean="0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lang="tr-TR" altLang="tr-TR" sz="1600" i="1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int</a:t>
            </a:r>
            <a:r>
              <a:rPr lang="tr-TR" altLang="tr-TR" sz="1600" i="1" dirty="0" smtClean="0">
                <a:solidFill>
                  <a:schemeClr val="tx1"/>
                </a:solidFill>
                <a:latin typeface="Arial" panose="020B0604020202020204" pitchFamily="34" charset="0"/>
              </a:rPr>
              <a:t> ise </a:t>
            </a:r>
            <a:r>
              <a:rPr lang="tr-TR" altLang="tr-TR" sz="1600" i="1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int</a:t>
            </a:r>
            <a:r>
              <a:rPr lang="tr-TR" altLang="tr-TR" sz="1600" i="1" dirty="0" smtClean="0">
                <a:solidFill>
                  <a:schemeClr val="tx1"/>
                </a:solidFill>
                <a:latin typeface="Arial" panose="020B0604020202020204" pitchFamily="34" charset="0"/>
              </a:rPr>
              <a:t> diye </a:t>
            </a:r>
            <a:r>
              <a:rPr lang="tr-TR" altLang="tr-TR" sz="1600" i="1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string</a:t>
            </a:r>
            <a:r>
              <a:rPr lang="tr-TR" altLang="tr-TR" sz="1600" i="1" dirty="0" smtClean="0">
                <a:solidFill>
                  <a:schemeClr val="tx1"/>
                </a:solidFill>
                <a:latin typeface="Arial" panose="020B0604020202020204" pitchFamily="34" charset="0"/>
              </a:rPr>
              <a:t> ise </a:t>
            </a:r>
            <a:r>
              <a:rPr lang="tr-TR" altLang="tr-TR" sz="1600" i="1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string</a:t>
            </a:r>
            <a:r>
              <a:rPr lang="tr-TR" altLang="tr-TR" sz="1600" i="1" dirty="0" smtClean="0">
                <a:solidFill>
                  <a:schemeClr val="tx1"/>
                </a:solidFill>
                <a:latin typeface="Arial" panose="020B0604020202020204" pitchFamily="34" charset="0"/>
              </a:rPr>
              <a:t> diye kalır)</a:t>
            </a: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tr-TR" altLang="tr-TR" i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9" name="İçerik Yer Tutucusu 8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283897" y="2535798"/>
            <a:ext cx="3177344" cy="2304388"/>
          </a:xfrm>
          <a:prstGeom prst="rect">
            <a:avLst/>
          </a:prstGeom>
        </p:spPr>
      </p:pic>
      <p:pic>
        <p:nvPicPr>
          <p:cNvPr id="10" name="Resim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897" y="5379299"/>
            <a:ext cx="3177344" cy="1199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41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cap="none" dirty="0"/>
              <a:t>v</a:t>
            </a:r>
            <a:r>
              <a:rPr lang="tr-TR" cap="none" dirty="0" smtClean="0"/>
              <a:t>ar İle Tanımlanan Değişkenin Veri Tipini Öğrenme</a:t>
            </a:r>
            <a:endParaRPr lang="tr-TR" cap="none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942580" y="2138355"/>
            <a:ext cx="5087075" cy="536005"/>
          </a:xfrm>
        </p:spPr>
        <p:txBody>
          <a:bodyPr/>
          <a:lstStyle/>
          <a:p>
            <a:r>
              <a:rPr lang="tr-TR" dirty="0" err="1" smtClean="0"/>
              <a:t>GetType</a:t>
            </a:r>
            <a:r>
              <a:rPr lang="tr-TR" dirty="0" smtClean="0"/>
              <a:t>() Nedir?</a:t>
            </a:r>
            <a:endParaRPr lang="tr-TR" dirty="0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511294" y="3267585"/>
            <a:ext cx="5087073" cy="553373"/>
          </a:xfrm>
        </p:spPr>
        <p:txBody>
          <a:bodyPr/>
          <a:lstStyle/>
          <a:p>
            <a:r>
              <a:rPr lang="tr-TR" dirty="0" smtClean="0"/>
              <a:t>KOD ÖRNEĞİ</a:t>
            </a:r>
            <a:endParaRPr lang="tr-TR" dirty="0"/>
          </a:p>
        </p:txBody>
      </p:sp>
      <p:sp>
        <p:nvSpPr>
          <p:cNvPr id="13" name="Rectangle 7"/>
          <p:cNvSpPr>
            <a:spLocks noGrp="1" noChangeArrowheads="1"/>
          </p:cNvSpPr>
          <p:nvPr>
            <p:ph sz="half" idx="2"/>
          </p:nvPr>
        </p:nvSpPr>
        <p:spPr bwMode="auto">
          <a:xfrm>
            <a:off x="3486117" y="2247835"/>
            <a:ext cx="495186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GetType</a:t>
            </a: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() metodu bir değişkenin </a:t>
            </a:r>
            <a:r>
              <a:rPr lang="tr-TR" altLang="tr-TR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veri tipini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b="1" dirty="0">
                <a:solidFill>
                  <a:schemeClr val="tx1"/>
                </a:solidFill>
                <a:latin typeface="Arial" panose="020B0604020202020204" pitchFamily="34" charset="0"/>
              </a:rPr>
              <a:t>ö</a:t>
            </a:r>
            <a:r>
              <a:rPr lang="tr-TR" altLang="tr-TR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ğrenmek için</a:t>
            </a: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 kullanılır.</a:t>
            </a:r>
          </a:p>
        </p:txBody>
      </p:sp>
      <p:sp>
        <p:nvSpPr>
          <p:cNvPr id="15" name="Metin Yer Tutucusu 4"/>
          <p:cNvSpPr txBox="1">
            <a:spLocks/>
          </p:cNvSpPr>
          <p:nvPr/>
        </p:nvSpPr>
        <p:spPr>
          <a:xfrm>
            <a:off x="7104927" y="3267584"/>
            <a:ext cx="5087073" cy="5533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smtClean="0"/>
              <a:t>ÇIKTI</a:t>
            </a:r>
            <a:endParaRPr lang="tr-TR" dirty="0"/>
          </a:p>
        </p:txBody>
      </p:sp>
      <p:pic>
        <p:nvPicPr>
          <p:cNvPr id="7" name="İçerik Yer Tutucusu 6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511294" y="3845590"/>
            <a:ext cx="5392737" cy="2561099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437" y="3845589"/>
            <a:ext cx="4538014" cy="175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814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054358" y="1408923"/>
            <a:ext cx="10011747" cy="501053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5000" dirty="0" smtClean="0"/>
              <a:t>TEŞEKKÜRLER</a:t>
            </a:r>
          </a:p>
          <a:p>
            <a:pPr algn="ctr"/>
            <a:endParaRPr lang="tr-TR" sz="3200" dirty="0" smtClean="0"/>
          </a:p>
          <a:p>
            <a:pPr algn="ctr"/>
            <a:endParaRPr lang="tr-TR" sz="3200" dirty="0" smtClean="0"/>
          </a:p>
          <a:p>
            <a:pPr algn="ctr"/>
            <a:r>
              <a:rPr lang="tr-TR" sz="2400" dirty="0" smtClean="0"/>
              <a:t>Bu </a:t>
            </a:r>
            <a:r>
              <a:rPr lang="tr-TR" sz="2400" dirty="0"/>
              <a:t>içerik faydalı olduysa</a:t>
            </a:r>
            <a:r>
              <a:rPr lang="tr-TR" sz="2400" dirty="0" smtClean="0"/>
              <a:t>:</a:t>
            </a:r>
          </a:p>
          <a:p>
            <a:pPr algn="ctr"/>
            <a:r>
              <a:rPr lang="tr-TR" sz="2400" dirty="0" smtClean="0"/>
              <a:t>👍 Beğenmeyi</a:t>
            </a:r>
          </a:p>
          <a:p>
            <a:pPr algn="ctr"/>
            <a:r>
              <a:rPr lang="tr-TR" sz="2400" dirty="0" smtClean="0"/>
              <a:t>💬 </a:t>
            </a:r>
            <a:r>
              <a:rPr lang="tr-TR" sz="2400" dirty="0"/>
              <a:t>Yorum </a:t>
            </a:r>
            <a:r>
              <a:rPr lang="tr-TR" sz="2400" dirty="0" smtClean="0"/>
              <a:t>yapmayı</a:t>
            </a:r>
          </a:p>
          <a:p>
            <a:pPr algn="ctr"/>
            <a:r>
              <a:rPr lang="tr-TR" sz="2400" dirty="0" smtClean="0"/>
              <a:t>🔔 </a:t>
            </a:r>
            <a:r>
              <a:rPr lang="tr-TR" sz="2400" dirty="0"/>
              <a:t>Kanala abone </a:t>
            </a:r>
            <a:r>
              <a:rPr lang="tr-TR" sz="2400" dirty="0" smtClean="0"/>
              <a:t>olmayı unutmayın.</a:t>
            </a:r>
          </a:p>
          <a:p>
            <a:pPr algn="ctr"/>
            <a:endParaRPr lang="tr-TR" sz="2400" dirty="0"/>
          </a:p>
          <a:p>
            <a:pPr algn="ctr"/>
            <a:endParaRPr lang="tr-TR" sz="2400" dirty="0" smtClean="0"/>
          </a:p>
          <a:p>
            <a:pPr algn="ctr"/>
            <a:endParaRPr lang="tr-TR" sz="2400" dirty="0" smtClean="0"/>
          </a:p>
          <a:p>
            <a:pPr algn="ctr"/>
            <a:endParaRPr lang="tr-TR" sz="2400" dirty="0"/>
          </a:p>
          <a:p>
            <a:pPr algn="ctr"/>
            <a:r>
              <a:rPr lang="tr-TR" sz="2000" dirty="0" smtClean="0"/>
              <a:t>    ▶</a:t>
            </a:r>
            <a:r>
              <a:rPr lang="tr-TR" sz="2000" dirty="0"/>
              <a:t>𝚈𝚘𝚞𝚝𝚞𝚋𝚎 RAM Kafe	</a:t>
            </a:r>
            <a:r>
              <a:rPr lang="tr-TR" sz="2000" dirty="0" smtClean="0"/>
              <a:t>   📩 arslanengin3175@gmail.com</a:t>
            </a: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434991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Kar Payı">
  <a:themeElements>
    <a:clrScheme name="Kar Payı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Kar Payı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Kar Payı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TM04033937[[fn=Uçak İzi]]</Template>
  <TotalTime>103</TotalTime>
  <Words>463</Words>
  <Application>Microsoft Office PowerPoint</Application>
  <PresentationFormat>Geniş ekran</PresentationFormat>
  <Paragraphs>152</Paragraphs>
  <Slides>16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16</vt:i4>
      </vt:variant>
    </vt:vector>
  </HeadingPairs>
  <TitlesOfParts>
    <vt:vector size="20" baseType="lpstr">
      <vt:lpstr>Arial</vt:lpstr>
      <vt:lpstr>Gill Sans MT</vt:lpstr>
      <vt:lpstr>Wingdings 2</vt:lpstr>
      <vt:lpstr>Kar Payı</vt:lpstr>
      <vt:lpstr>C# Değişken tanımlama ve veri tipleri</vt:lpstr>
      <vt:lpstr>Ders kapsamında öğreneceklerimiz</vt:lpstr>
      <vt:lpstr>Değişken Nedir?</vt:lpstr>
      <vt:lpstr>Neden Değişken Kullanılır?</vt:lpstr>
      <vt:lpstr>Değişken Tanımlama</vt:lpstr>
      <vt:lpstr>PowerPoint Sunusu</vt:lpstr>
      <vt:lpstr>int  (Tam Sayılar)</vt:lpstr>
      <vt:lpstr>double  (Ondalıklı Sayılar)</vt:lpstr>
      <vt:lpstr>float  (Double’dan Daha Az Hassas Ondalıklı Sayılar)</vt:lpstr>
      <vt:lpstr>decimal  (Yüksek Hassasiyet Gerektiren Ondalıklı Sayılar)</vt:lpstr>
      <vt:lpstr>string  (2 ve 2’den Fazla Karakter)</vt:lpstr>
      <vt:lpstr>char  (Tek Karakter)</vt:lpstr>
      <vt:lpstr>bool  (Doğru veya Yanlış)</vt:lpstr>
      <vt:lpstr>var  (İçinde Tüm Veri Tiplerini Barındırır)</vt:lpstr>
      <vt:lpstr>var İle Tanımlanan Değişkenin Veri Tipini Öğrenme</vt:lpstr>
      <vt:lpstr>PowerPoint Sunusu</vt:lpstr>
    </vt:vector>
  </TitlesOfParts>
  <Company>Silentall Unattended Installer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Değişken tanımlama ve veri tipleri</dc:title>
  <dc:creator>Engin ARSLAN</dc:creator>
  <cp:lastModifiedBy>Engin ARSLAN</cp:lastModifiedBy>
  <cp:revision>14</cp:revision>
  <dcterms:created xsi:type="dcterms:W3CDTF">2026-08-06T20:10:58Z</dcterms:created>
  <dcterms:modified xsi:type="dcterms:W3CDTF">2026-08-07T09:25:14Z</dcterms:modified>
  <cp:contentStatus/>
</cp:coreProperties>
</file>